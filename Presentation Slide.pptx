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65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B3B9"/>
    <a:srgbClr val="0E56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1379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628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Arthritis</c:v>
                </c:pt>
                <c:pt idx="1">
                  <c:v>Diabetes</c:v>
                </c:pt>
                <c:pt idx="2">
                  <c:v>Hypertension</c:v>
                </c:pt>
                <c:pt idx="3">
                  <c:v>Obesity</c:v>
                </c:pt>
                <c:pt idx="4">
                  <c:v>Cancer</c:v>
                </c:pt>
                <c:pt idx="5">
                  <c:v>Asthma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9218</c:v>
                </c:pt>
                <c:pt idx="1">
                  <c:v>9216</c:v>
                </c:pt>
                <c:pt idx="2">
                  <c:v>9151</c:v>
                </c:pt>
                <c:pt idx="3">
                  <c:v>9146</c:v>
                </c:pt>
                <c:pt idx="4">
                  <c:v>9140</c:v>
                </c:pt>
                <c:pt idx="5">
                  <c:v>9095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99-48AC-AADC-65C5B5A2A7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628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2ED-4BAD-9942-73DE4583652A}"/>
              </c:ext>
            </c:extLst>
          </c:dPt>
          <c:dPt>
            <c:idx val="1"/>
            <c:invertIfNegative val="0"/>
            <c:bubble3D val="0"/>
            <c:spPr>
              <a:solidFill>
                <a:srgbClr val="E270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2ED-4BAD-9942-73DE4583652A}"/>
              </c:ext>
            </c:extLst>
          </c:dPt>
          <c:dPt>
            <c:idx val="2"/>
            <c:invertIfNegative val="0"/>
            <c:bubble3D val="0"/>
            <c:spPr>
              <a:solidFill>
                <a:srgbClr val="3E9C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2ED-4BAD-9942-73DE4583652A}"/>
              </c:ext>
            </c:extLst>
          </c:dPt>
          <c:dLbls>
            <c:dLbl>
              <c:idx val="0"/>
              <c:layout>
                <c:manualLayout>
                  <c:x val="-2.6205450733752622E-3"/>
                  <c:y val="-2.848017577348286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2ED-4BAD-9942-73DE4583652A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628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Adult</c:v>
                </c:pt>
                <c:pt idx="1">
                  <c:v>Senior</c:v>
                </c:pt>
                <c:pt idx="2">
                  <c:v>Child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33902</c:v>
                </c:pt>
                <c:pt idx="1">
                  <c:v>20948</c:v>
                </c:pt>
                <c:pt idx="2">
                  <c:v>116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2ED-4BAD-9942-73DE458365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628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Admissions</c:v>
                </c:pt>
              </c:strCache>
            </c:strRef>
          </c:tx>
          <c:spPr>
            <a:solidFill>
              <a:srgbClr val="1379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628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LLC Smith</c:v>
                </c:pt>
                <c:pt idx="1">
                  <c:v>Ltd Smith</c:v>
                </c:pt>
                <c:pt idx="2">
                  <c:v>Johnson Plc</c:v>
                </c:pt>
                <c:pt idx="3">
                  <c:v>Smith Ltd</c:v>
                </c:pt>
                <c:pt idx="4">
                  <c:v>Smith Plc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</c:v>
                </c:pt>
                <c:pt idx="1">
                  <c:v>39</c:v>
                </c:pt>
                <c:pt idx="2">
                  <c:v>37</c:v>
                </c:pt>
                <c:pt idx="3">
                  <c:v>37</c:v>
                </c:pt>
                <c:pt idx="4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91-44FB-82EE-7938F64A9A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628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628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Asthma</c:v>
                </c:pt>
                <c:pt idx="1">
                  <c:v>Arthritis</c:v>
                </c:pt>
                <c:pt idx="2">
                  <c:v>Cancer</c:v>
                </c:pt>
                <c:pt idx="3">
                  <c:v>Obesity</c:v>
                </c:pt>
                <c:pt idx="4">
                  <c:v>Hypertension</c:v>
                </c:pt>
                <c:pt idx="5">
                  <c:v>Diabetes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15.38</c:v>
                </c:pt>
                <c:pt idx="1">
                  <c:v>15.16</c:v>
                </c:pt>
                <c:pt idx="2">
                  <c:v>15.49</c:v>
                </c:pt>
                <c:pt idx="3">
                  <c:v>15.39</c:v>
                </c:pt>
                <c:pt idx="4">
                  <c:v>15.49</c:v>
                </c:pt>
                <c:pt idx="5">
                  <c:v>15.32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1C-4C4B-B2AC-CEA9B7B790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628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Sheet1!$B$2</c:f>
              <c:strCache>
                <c:ptCount val="1"/>
                <c:pt idx="0">
                  <c:v>4630</c:v>
                </c:pt>
              </c:strCache>
            </c:strRef>
          </c:tx>
          <c:spPr>
            <a:ln w="31750" cap="flat">
              <a:solidFill>
                <a:srgbClr val="E2703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2703A"/>
              </a:solidFill>
              <a:ln w="9525" cap="flat">
                <a:solidFill>
                  <a:srgbClr val="E2703A"/>
                </a:solidFill>
                <a:prstDash val="solid"/>
                <a:round/>
              </a:ln>
              <a:effectLst/>
            </c:spPr>
          </c:marker>
          <c:cat>
            <c:strRef>
              <c:f>Sheet1!$A$7:$A$13</c:f>
              <c:strCache>
                <c:ptCount val="7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Sept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</c:strCache>
            </c:strRef>
          </c:cat>
          <c:val>
            <c:numRef>
              <c:f>Sheet1!$B$7:$B$13</c:f>
              <c:numCache>
                <c:formatCode>General</c:formatCode>
                <c:ptCount val="7"/>
                <c:pt idx="0">
                  <c:v>4526</c:v>
                </c:pt>
                <c:pt idx="1">
                  <c:v>4746</c:v>
                </c:pt>
                <c:pt idx="2">
                  <c:v>4721</c:v>
                </c:pt>
                <c:pt idx="3">
                  <c:v>4677</c:v>
                </c:pt>
                <c:pt idx="4">
                  <c:v>4610</c:v>
                </c:pt>
                <c:pt idx="5">
                  <c:v>4484</c:v>
                </c:pt>
                <c:pt idx="6">
                  <c:v>4609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954-4826-98B6-5BE0C8965D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628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Billing ($M)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Lbls>
            <c:dLbl>
              <c:idx val="3"/>
              <c:layout>
                <c:manualLayout>
                  <c:x val="4.0849673202614381E-3"/>
                  <c:y val="1.06837606837606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9EE-4089-86F4-9CFE3F8E0FF0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628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Endocrinology</c:v>
                </c:pt>
                <c:pt idx="1">
                  <c:v>Nutrition &amp; Dietetics</c:v>
                </c:pt>
                <c:pt idx="2">
                  <c:v>Orthopedics</c:v>
                </c:pt>
                <c:pt idx="3">
                  <c:v>Cardiology</c:v>
                </c:pt>
                <c:pt idx="4">
                  <c:v>Pulmonology</c:v>
                </c:pt>
                <c:pt idx="5">
                  <c:v>Oncology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236.49</c:v>
                </c:pt>
                <c:pt idx="1">
                  <c:v>236.1</c:v>
                </c:pt>
                <c:pt idx="2">
                  <c:v>235.17</c:v>
                </c:pt>
                <c:pt idx="3">
                  <c:v>233.38</c:v>
                </c:pt>
                <c:pt idx="4">
                  <c:v>233.14</c:v>
                </c:pt>
                <c:pt idx="5">
                  <c:v>229.88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A3-4B9B-BEDA-3BB9C2F681D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628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4811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AE847-A2F7-4AB2-F481-043BF938C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E397E6-37E2-7385-6FA7-7F75A3F4F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F5E8B2-2E8F-C7B0-ABBD-056B29754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07B3B-955C-3A22-E5DF-B5CA4690D2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871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63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128"/>
            <a:ext cx="4206240" cy="6858000"/>
          </a:xfrm>
          <a:prstGeom prst="rect">
            <a:avLst/>
          </a:prstGeom>
          <a:solidFill>
            <a:srgbClr val="0E56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60520" y="0"/>
            <a:ext cx="45720" cy="6858000"/>
          </a:xfrm>
          <a:prstGeom prst="rect">
            <a:avLst/>
          </a:prstGeom>
          <a:solidFill>
            <a:srgbClr val="E27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3520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</a:t>
            </a:r>
            <a:endParaRPr lang="en-US" sz="27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ADMISSION</a:t>
            </a:r>
            <a:endParaRPr lang="en-US" sz="27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46177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b="1" kern="0" spc="150" dirty="0">
                <a:solidFill>
                  <a:srgbClr val="5FB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REVIEW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b="1" kern="0" spc="150" dirty="0">
                <a:solidFill>
                  <a:srgbClr val="5FB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PUBLIC HEALTH DECISION-MAKERS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54880" y="2377440"/>
            <a:ext cx="6675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Care, Operational Efficiency</a:t>
            </a:r>
            <a:endParaRPr lang="en-US" sz="2600" dirty="0"/>
          </a:p>
          <a:p>
            <a:pPr marL="0" indent="0">
              <a:lnSpc>
                <a:spcPts val="32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Financial Performance Across</a:t>
            </a:r>
            <a:endParaRPr lang="en-US" sz="2600" dirty="0"/>
          </a:p>
          <a:p>
            <a:pPr marL="0" indent="0">
              <a:lnSpc>
                <a:spcPts val="32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Hospitals in NH State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754880" y="42519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B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NH Ministry of Health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5989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Team — Group One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B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Admissions Dataset  |  Power BI Dashboard</a:t>
            </a:r>
            <a:endParaRPr 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2F29A7-671A-FEEC-5188-8D15E7647AD2}"/>
              </a:ext>
            </a:extLst>
          </p:cNvPr>
          <p:cNvSpPr txBox="1"/>
          <p:nvPr/>
        </p:nvSpPr>
        <p:spPr>
          <a:xfrm>
            <a:off x="512717" y="5169502"/>
            <a:ext cx="15675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5FB3B9"/>
                </a:solidFill>
              </a:rPr>
              <a:t>4/08/2026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SCENARIO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263640" cy="4892040"/>
          </a:xfrm>
          <a:prstGeom prst="rect">
            <a:avLst/>
          </a:prstGeom>
          <a:solidFill>
            <a:srgbClr val="F5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55778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NH State Ministry of Health has observed increasing pressure on hospitals due to rising patient admissions, growing healthcare costs, and inconsistent service delivery across facilities.
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hospitals collect large volumes of patient and operational data, much of it is not being used effectively to </a:t>
            </a:r>
            <a:r>
              <a:rPr lang="en-US" sz="1350" b="1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strategic planning or improve healthcare delivery.</a:t>
            </a:r>
            <a:r>
              <a:rPr lang="en-US" sz="13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address this, the Ministry commissioned an analytics team to examine hospital admission records and uncover trends in patient demographics, disease prevalence, hospital operations, and financial performance.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086600" y="1417320"/>
            <a:ext cx="4526280" cy="4892040"/>
          </a:xfrm>
          <a:prstGeom prst="rect">
            <a:avLst/>
          </a:prstGeom>
          <a:solidFill>
            <a:srgbClr val="0B4A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52360" y="1691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B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ROLE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52360" y="2148840"/>
            <a:ext cx="38862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hospital admission data</a:t>
            </a:r>
            <a:endParaRPr lang="en-US" sz="1350" dirty="0"/>
          </a:p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operational and financial trends</a:t>
            </a:r>
            <a:endParaRPr lang="en-US" sz="1350" dirty="0"/>
          </a:p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hospital performance</a:t>
            </a:r>
            <a:endParaRPr lang="en-US" sz="1350" dirty="0"/>
          </a:p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interactive dashboard for decision-makers</a:t>
            </a:r>
            <a:endParaRPr lang="en-US" sz="1350" dirty="0"/>
          </a:p>
          <a:p>
            <a:pPr marL="342900" indent="-342900">
              <a:lnSpc>
                <a:spcPts val="26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evidence-based, data-driven strategies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5653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 STATE MINISTRY OF HEALTH  |  HEALTHCARE ADMISSION ANALYTICS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52144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MINISTRY ASKED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Key Questions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965960"/>
          </a:xfrm>
          <a:prstGeom prst="rect">
            <a:avLst/>
          </a:prstGeom>
          <a:solidFill>
            <a:srgbClr val="F5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79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medical conditions place the greatest demand on hospitals?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20440" cy="1965960"/>
          </a:xfrm>
          <a:prstGeom prst="rect">
            <a:avLst/>
          </a:prstGeom>
          <a:solidFill>
            <a:srgbClr val="F5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26280" y="1828800"/>
            <a:ext cx="502920" cy="502920"/>
          </a:xfrm>
          <a:prstGeom prst="ellipse">
            <a:avLst/>
          </a:prstGeom>
          <a:solidFill>
            <a:srgbClr val="E27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26280" y="24688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departments consume the most resources?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520440" cy="1965960"/>
          </a:xfrm>
          <a:prstGeom prst="rect">
            <a:avLst/>
          </a:prstGeom>
          <a:solidFill>
            <a:srgbClr val="F5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75320" y="1828800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7532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75320" y="24688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month has the highest admission rate?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3520440" cy="1965960"/>
          </a:xfrm>
          <a:prstGeom prst="rect">
            <a:avLst/>
          </a:prstGeom>
          <a:solidFill>
            <a:srgbClr val="F5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3E9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77240" y="470916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age groups require the most healthcare attention?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97680" y="3840480"/>
            <a:ext cx="3520440" cy="1965960"/>
          </a:xfrm>
          <a:prstGeom prst="rect">
            <a:avLst/>
          </a:prstGeom>
          <a:solidFill>
            <a:srgbClr val="F5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26280" y="4069080"/>
            <a:ext cx="502920" cy="502920"/>
          </a:xfrm>
          <a:prstGeom prst="ellipse">
            <a:avLst/>
          </a:prstGeom>
          <a:solidFill>
            <a:srgbClr val="1379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2628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26280" y="470916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insurance provider has the highest number of patient?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46720" y="3840480"/>
            <a:ext cx="3520440" cy="1965960"/>
          </a:xfrm>
          <a:prstGeom prst="rect">
            <a:avLst/>
          </a:prstGeom>
          <a:solidFill>
            <a:srgbClr val="F5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275320" y="4069080"/>
            <a:ext cx="502920" cy="502920"/>
          </a:xfrm>
          <a:prstGeom prst="ellipse">
            <a:avLst/>
          </a:prstGeom>
          <a:solidFill>
            <a:srgbClr val="E27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7532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275320" y="470916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Gender has the highest admission rate?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built for this project answers one of these six questions directly.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653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 STATE MINISTRY OF HEALTH  |  HEALTHCARE ADMISSION ANALYTICS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52144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45FCAE-A4AF-BB62-27A1-E35BF1BB4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1D6EA6-5AEE-7398-2D8C-B738ACF6CF3D}"/>
              </a:ext>
            </a:extLst>
          </p:cNvPr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MINISTRY ASKED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39574B9-8090-3A4D-2470-DBB370A6B02E}"/>
              </a:ext>
            </a:extLst>
          </p:cNvPr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 Questions Include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B8EDD4B-B72A-1BBE-5A78-6AC61890E15F}"/>
              </a:ext>
            </a:extLst>
          </p:cNvPr>
          <p:cNvSpPr/>
          <p:nvPr/>
        </p:nvSpPr>
        <p:spPr>
          <a:xfrm>
            <a:off x="548640" y="1600200"/>
            <a:ext cx="3520440" cy="1965960"/>
          </a:xfrm>
          <a:prstGeom prst="rect">
            <a:avLst/>
          </a:prstGeom>
          <a:solidFill>
            <a:srgbClr val="F5F8F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D474E73-460D-3C55-F289-0FF6727B72F9}"/>
              </a:ext>
            </a:extLst>
          </p:cNvPr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798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4E21ECC-880E-5182-9697-867013260055}"/>
              </a:ext>
            </a:extLst>
          </p:cNvPr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</a:rPr>
              <a:t>6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7F36871-D072-127C-EF09-BFF9EFC6E3E1}"/>
              </a:ext>
            </a:extLst>
          </p:cNvPr>
          <p:cNvSpPr/>
          <p:nvPr/>
        </p:nvSpPr>
        <p:spPr>
          <a:xfrm>
            <a:off x="777240" y="24688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600"/>
              </a:lnSpc>
            </a:pPr>
            <a:r>
              <a:rPr lang="en-GB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hospital admitted the highest number of patients?</a:t>
            </a:r>
            <a:endParaRPr lang="en-US" sz="12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BB443B1-86AB-B36A-6756-282AC49844AD}"/>
              </a:ext>
            </a:extLst>
          </p:cNvPr>
          <p:cNvSpPr/>
          <p:nvPr/>
        </p:nvSpPr>
        <p:spPr>
          <a:xfrm>
            <a:off x="4297680" y="1600200"/>
            <a:ext cx="3520440" cy="1965960"/>
          </a:xfrm>
          <a:prstGeom prst="rect">
            <a:avLst/>
          </a:prstGeom>
          <a:solidFill>
            <a:srgbClr val="F5F8F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74124C0-D993-0FE4-836F-8F8247F04F61}"/>
              </a:ext>
            </a:extLst>
          </p:cNvPr>
          <p:cNvSpPr/>
          <p:nvPr/>
        </p:nvSpPr>
        <p:spPr>
          <a:xfrm>
            <a:off x="4526280" y="1828800"/>
            <a:ext cx="502920" cy="502920"/>
          </a:xfrm>
          <a:prstGeom prst="ellipse">
            <a:avLst/>
          </a:prstGeom>
          <a:solidFill>
            <a:srgbClr val="E27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FD54C37-1393-1046-1031-E39F80ECE797}"/>
              </a:ext>
            </a:extLst>
          </p:cNvPr>
          <p:cNvSpPr/>
          <p:nvPr/>
        </p:nvSpPr>
        <p:spPr>
          <a:xfrm>
            <a:off x="452628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</a:rPr>
              <a:t>7</a:t>
            </a:r>
            <a:endParaRPr lang="en-US" sz="2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4111E09-0CA2-B6A0-8536-7EBCE4FA0FE2}"/>
              </a:ext>
            </a:extLst>
          </p:cNvPr>
          <p:cNvSpPr/>
          <p:nvPr/>
        </p:nvSpPr>
        <p:spPr>
          <a:xfrm>
            <a:off x="4526280" y="24688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600"/>
              </a:lnSpc>
            </a:pPr>
            <a:r>
              <a:rPr lang="en-GB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billing amount per patient?</a:t>
            </a:r>
            <a:endParaRPr lang="en-US" sz="12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17A1EE1-EDE0-82DE-9339-1A5313160C57}"/>
              </a:ext>
            </a:extLst>
          </p:cNvPr>
          <p:cNvSpPr/>
          <p:nvPr/>
        </p:nvSpPr>
        <p:spPr>
          <a:xfrm>
            <a:off x="8046720" y="1600200"/>
            <a:ext cx="3520440" cy="1965960"/>
          </a:xfrm>
          <a:prstGeom prst="rect">
            <a:avLst/>
          </a:prstGeom>
          <a:solidFill>
            <a:srgbClr val="F5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9CA1B78-E225-F8F3-E654-66FB415CB424}"/>
              </a:ext>
            </a:extLst>
          </p:cNvPr>
          <p:cNvSpPr/>
          <p:nvPr/>
        </p:nvSpPr>
        <p:spPr>
          <a:xfrm>
            <a:off x="8275320" y="1828800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5EF3221-8816-D8D9-8616-D2F73F28A24F}"/>
              </a:ext>
            </a:extLst>
          </p:cNvPr>
          <p:cNvSpPr/>
          <p:nvPr/>
        </p:nvSpPr>
        <p:spPr>
          <a:xfrm>
            <a:off x="827532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</a:rPr>
              <a:t>8</a:t>
            </a:r>
            <a:endParaRPr lang="en-US" sz="2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6254BF6-154D-6F56-37FA-4878A5C2C59D}"/>
              </a:ext>
            </a:extLst>
          </p:cNvPr>
          <p:cNvSpPr/>
          <p:nvPr/>
        </p:nvSpPr>
        <p:spPr>
          <a:xfrm>
            <a:off x="8275320" y="24688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600"/>
              </a:lnSpc>
            </a:pPr>
            <a:r>
              <a:rPr lang="en-GB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departments generate the highest total billing amount?</a:t>
            </a:r>
            <a:endParaRPr lang="en-US" sz="12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ECFF450-8A08-F940-6D13-878AA3F6A986}"/>
              </a:ext>
            </a:extLst>
          </p:cNvPr>
          <p:cNvSpPr/>
          <p:nvPr/>
        </p:nvSpPr>
        <p:spPr>
          <a:xfrm>
            <a:off x="548640" y="3840480"/>
            <a:ext cx="3520440" cy="1965960"/>
          </a:xfrm>
          <a:prstGeom prst="rect">
            <a:avLst/>
          </a:prstGeom>
          <a:solidFill>
            <a:srgbClr val="F5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7AAAAAB-3A2F-3FF9-484E-55292B029814}"/>
              </a:ext>
            </a:extLst>
          </p:cNvPr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3E9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32A6A71-0CF0-735A-72EE-429CE823ABC6}"/>
              </a:ext>
            </a:extLst>
          </p:cNvPr>
          <p:cNvSpPr/>
          <p:nvPr/>
        </p:nvSpPr>
        <p:spPr>
          <a:xfrm>
            <a:off x="77724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</a:rPr>
              <a:t>9</a:t>
            </a:r>
            <a:endParaRPr lang="en-US" sz="2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43990BA-5C21-4FC7-0540-84D77E1337E6}"/>
              </a:ext>
            </a:extLst>
          </p:cNvPr>
          <p:cNvSpPr/>
          <p:nvPr/>
        </p:nvSpPr>
        <p:spPr>
          <a:xfrm>
            <a:off x="777240" y="470916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600"/>
              </a:lnSpc>
            </a:pPr>
            <a:r>
              <a:rPr lang="en-GB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percentage of patients fall into each patient risk level?</a:t>
            </a:r>
            <a:endParaRPr lang="en-US" sz="12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CE0E05D-DDF7-44E0-9A38-EC7A5A5C3B0E}"/>
              </a:ext>
            </a:extLst>
          </p:cNvPr>
          <p:cNvSpPr/>
          <p:nvPr/>
        </p:nvSpPr>
        <p:spPr>
          <a:xfrm>
            <a:off x="4297680" y="3840480"/>
            <a:ext cx="3520440" cy="1965960"/>
          </a:xfrm>
          <a:prstGeom prst="rect">
            <a:avLst/>
          </a:prstGeom>
          <a:solidFill>
            <a:srgbClr val="F5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0BFF0A6-EC72-0BD4-0792-EE4837AA786F}"/>
              </a:ext>
            </a:extLst>
          </p:cNvPr>
          <p:cNvSpPr/>
          <p:nvPr/>
        </p:nvSpPr>
        <p:spPr>
          <a:xfrm>
            <a:off x="4526280" y="4069080"/>
            <a:ext cx="502920" cy="502920"/>
          </a:xfrm>
          <a:prstGeom prst="ellipse">
            <a:avLst/>
          </a:prstGeom>
          <a:solidFill>
            <a:srgbClr val="1379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17797BF-4A63-9F87-1140-E1F83EBD8859}"/>
              </a:ext>
            </a:extLst>
          </p:cNvPr>
          <p:cNvSpPr/>
          <p:nvPr/>
        </p:nvSpPr>
        <p:spPr>
          <a:xfrm>
            <a:off x="452628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</a:rPr>
              <a:t>10</a:t>
            </a:r>
            <a:endParaRPr lang="en-US" sz="2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4F47289-7209-1F54-4CD8-9916CA123129}"/>
              </a:ext>
            </a:extLst>
          </p:cNvPr>
          <p:cNvSpPr/>
          <p:nvPr/>
        </p:nvSpPr>
        <p:spPr>
          <a:xfrm>
            <a:off x="4526280" y="470916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GB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blood type appears most frequently among admitted patients?</a:t>
            </a: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endParaRPr lang="en-US" sz="12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04E02F3D-1E35-DD68-8F1E-F025D7C7C030}"/>
              </a:ext>
            </a:extLst>
          </p:cNvPr>
          <p:cNvSpPr/>
          <p:nvPr/>
        </p:nvSpPr>
        <p:spPr>
          <a:xfrm>
            <a:off x="8046720" y="3840480"/>
            <a:ext cx="3520440" cy="1965960"/>
          </a:xfrm>
          <a:prstGeom prst="rect">
            <a:avLst/>
          </a:prstGeom>
          <a:solidFill>
            <a:srgbClr val="F5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D3B027B-3E00-DFE5-5430-00C47E790E15}"/>
              </a:ext>
            </a:extLst>
          </p:cNvPr>
          <p:cNvSpPr/>
          <p:nvPr/>
        </p:nvSpPr>
        <p:spPr>
          <a:xfrm>
            <a:off x="8275320" y="4069080"/>
            <a:ext cx="502920" cy="502920"/>
          </a:xfrm>
          <a:prstGeom prst="ellipse">
            <a:avLst/>
          </a:prstGeom>
          <a:solidFill>
            <a:srgbClr val="E27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3660AD11-870F-B782-82C6-6F6A11AB35A7}"/>
              </a:ext>
            </a:extLst>
          </p:cNvPr>
          <p:cNvSpPr/>
          <p:nvPr/>
        </p:nvSpPr>
        <p:spPr>
          <a:xfrm>
            <a:off x="827532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</a:rPr>
              <a:t>11</a:t>
            </a:r>
            <a:endParaRPr lang="en-US" sz="20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C561D8D-642C-A648-3098-3A17E0D1B627}"/>
              </a:ext>
            </a:extLst>
          </p:cNvPr>
          <p:cNvSpPr/>
          <p:nvPr/>
        </p:nvSpPr>
        <p:spPr>
          <a:xfrm>
            <a:off x="8275320" y="470916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600"/>
              </a:lnSpc>
            </a:pPr>
            <a:r>
              <a:rPr lang="en-GB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medications are prescribed most often?</a:t>
            </a:r>
            <a:endParaRPr lang="en-US" sz="125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E5972BE-042D-5FD1-EB32-3B772F4A4944}"/>
              </a:ext>
            </a:extLst>
          </p:cNvPr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built for this project answers one of these six questions directly.</a:t>
            </a:r>
            <a:endParaRPr lang="en-US" sz="115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654FD021-82EE-31B6-6D7C-283486CBCE3C}"/>
              </a:ext>
            </a:extLst>
          </p:cNvPr>
          <p:cNvSpPr/>
          <p:nvPr/>
        </p:nvSpPr>
        <p:spPr>
          <a:xfrm>
            <a:off x="457200" y="65653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 STATE MINISTRY OF HEALTH  |  HEALTHCARE ADMISSION ANALYTICS</a:t>
            </a:r>
            <a:endParaRPr lang="en-US" sz="8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738AB566-C3FF-3C25-87B4-52E3F75AE7E7}"/>
              </a:ext>
            </a:extLst>
          </p:cNvPr>
          <p:cNvSpPr/>
          <p:nvPr/>
        </p:nvSpPr>
        <p:spPr>
          <a:xfrm>
            <a:off x="1152144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263113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dataset was sourced, cleaned, and prepared for analysis in Power BI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487168" cy="2743200"/>
          </a:xfrm>
          <a:prstGeom prst="roundRect">
            <a:avLst>
              <a:gd name="adj" fmla="val 2941"/>
            </a:avLst>
          </a:prstGeom>
          <a:solidFill>
            <a:srgbClr val="F7F9FA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801368"/>
            <a:ext cx="502920" cy="502920"/>
          </a:xfrm>
          <a:prstGeom prst="ellipse">
            <a:avLst/>
          </a:prstGeom>
          <a:solidFill>
            <a:srgbClr val="1F8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801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246888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49808" y="2953512"/>
            <a:ext cx="20848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obtained from Kaggle, a public repository of curated, structured datasets ideal for consistent, reproducible analysis.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35808" y="27432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91840" y="1600200"/>
            <a:ext cx="2487168" cy="2743200"/>
          </a:xfrm>
          <a:prstGeom prst="roundRect">
            <a:avLst>
              <a:gd name="adj" fmla="val 2941"/>
            </a:avLst>
          </a:prstGeom>
          <a:solidFill>
            <a:srgbClr val="F7F9FA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93008" y="1801368"/>
            <a:ext cx="502920" cy="502920"/>
          </a:xfrm>
          <a:prstGeom prst="ellipse">
            <a:avLst/>
          </a:prstGeom>
          <a:solidFill>
            <a:srgbClr val="1F8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93008" y="1801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08" y="246888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493008" y="2953512"/>
            <a:ext cx="20848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calculated columns were built in Excel on top of the original 16, deriving the additional metrics needed before further processing.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79008" y="27432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35040" y="1600200"/>
            <a:ext cx="2487168" cy="2743200"/>
          </a:xfrm>
          <a:prstGeom prst="roundRect">
            <a:avLst>
              <a:gd name="adj" fmla="val 2941"/>
            </a:avLst>
          </a:prstGeom>
          <a:solidFill>
            <a:srgbClr val="F7F9FA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36208" y="1801368"/>
            <a:ext cx="502920" cy="502920"/>
          </a:xfrm>
          <a:prstGeom prst="ellipse">
            <a:avLst/>
          </a:prstGeom>
          <a:solidFill>
            <a:srgbClr val="1F8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36208" y="1801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36208" y="246888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236208" y="2953512"/>
            <a:ext cx="20848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Excel file was loaded into Power Query, where formats were standardized and 534 duplicate records were removed.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22208" y="27432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778240" y="1600200"/>
            <a:ext cx="2487168" cy="2743200"/>
          </a:xfrm>
          <a:prstGeom prst="roundRect">
            <a:avLst>
              <a:gd name="adj" fmla="val 2941"/>
            </a:avLst>
          </a:prstGeom>
          <a:solidFill>
            <a:srgbClr val="F7F9FA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979408" y="1801368"/>
            <a:ext cx="502920" cy="502920"/>
          </a:xfrm>
          <a:prstGeom prst="ellipse">
            <a:avLst/>
          </a:prstGeom>
          <a:solidFill>
            <a:srgbClr val="1F8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979408" y="1801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979408" y="246888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Visualization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979408" y="2953512"/>
            <a:ext cx="20848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cleaned data was loaded into Power BI and modeled into an interactive, decision-ready dashboard.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709160"/>
            <a:ext cx="3429000" cy="1234440"/>
          </a:xfrm>
          <a:prstGeom prst="roundRect">
            <a:avLst>
              <a:gd name="adj" fmla="val 5185"/>
            </a:avLst>
          </a:prstGeom>
          <a:solidFill>
            <a:srgbClr val="E7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77240" y="4818888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8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77240" y="5458968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297680" y="4709160"/>
            <a:ext cx="3429000" cy="1234440"/>
          </a:xfrm>
          <a:prstGeom prst="roundRect">
            <a:avLst>
              <a:gd name="adj" fmla="val 5185"/>
            </a:avLst>
          </a:prstGeom>
          <a:solidFill>
            <a:srgbClr val="E7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26280" y="4818888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8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+7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4526280" y="5458968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 Added in Excel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046720" y="4709160"/>
            <a:ext cx="3429000" cy="1234440"/>
          </a:xfrm>
          <a:prstGeom prst="roundRect">
            <a:avLst>
              <a:gd name="adj" fmla="val 5185"/>
            </a:avLst>
          </a:prstGeom>
          <a:solidFill>
            <a:srgbClr val="E7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275320" y="4818888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8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534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8275320" y="5458968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 Removed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172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approach:  </a:t>
            </a: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provided a reliable, well-documented dataset suited to structured analysis. Calculated columns were built in Excel first, then the file was taken through Power Query and loaded into Power BI — keeping the pipeline from raw data to dashboard fully traceable and reproducible.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974748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 ·  WHICH PATIENTS NEED US MOST?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Demographics &amp; Disease Burden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429000" cy="868680"/>
          </a:xfrm>
          <a:prstGeom prst="rect">
            <a:avLst/>
          </a:prstGeom>
          <a:solidFill>
            <a:srgbClr val="0B4A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9047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FB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54,966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206240" y="1417320"/>
            <a:ext cx="3429000" cy="868680"/>
          </a:xfrm>
          <a:prstGeom prst="rect">
            <a:avLst/>
          </a:prstGeom>
          <a:solidFill>
            <a:srgbClr val="0B4A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149047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FB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LENGTH OF STAY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89120" y="17373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15.50 days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863840" y="1417320"/>
            <a:ext cx="3429000" cy="868680"/>
          </a:xfrm>
          <a:prstGeom prst="rect">
            <a:avLst/>
          </a:prstGeom>
          <a:solidFill>
            <a:srgbClr val="0B4A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46720" y="149047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FB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BILLING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046720" y="17373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$1.40bn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" y="251460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B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BY MEDICAL CONDITION</a:t>
            </a:r>
            <a:endParaRPr lang="en-US" sz="105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457200" y="2788920"/>
          <a:ext cx="62179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 12"/>
          <p:cNvSpPr/>
          <p:nvPr/>
        </p:nvSpPr>
        <p:spPr>
          <a:xfrm>
            <a:off x="6949440" y="2514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B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BY AGE GROUP</a:t>
            </a:r>
            <a:endParaRPr lang="en-US" sz="1050" dirty="0"/>
          </a:p>
        </p:txBody>
      </p:sp>
      <p:graphicFrame>
        <p:nvGraphicFramePr>
          <p:cNvPr id="16" name="Chart 1"/>
          <p:cNvGraphicFramePr/>
          <p:nvPr>
            <p:extLst>
              <p:ext uri="{D42A27DB-BD31-4B8C-83A1-F6EECF244321}">
                <p14:modId xmlns:p14="http://schemas.microsoft.com/office/powerpoint/2010/main" val="3679090834"/>
              </p:ext>
            </p:extLst>
          </p:nvPr>
        </p:nvGraphicFramePr>
        <p:xfrm>
          <a:off x="6858000" y="2788920"/>
          <a:ext cx="484632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Shape 13"/>
          <p:cNvSpPr/>
          <p:nvPr/>
        </p:nvSpPr>
        <p:spPr>
          <a:xfrm>
            <a:off x="6858000" y="4937760"/>
            <a:ext cx="4846320" cy="1417320"/>
          </a:xfrm>
          <a:prstGeom prst="rect">
            <a:avLst/>
          </a:prstGeom>
          <a:solidFill>
            <a:srgbClr val="F5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7086600" y="50566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2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7086600" y="5321808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patients accounted for the largest share of admissions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Arthritis, Diabetes and Hypertension were the most diagnosed conditions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burden is spread almost evenly across the top six conditions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57200" y="65653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 STATE MINISTRY OF HEALTH  |  HEALTHCARE ADMISSION ANALYTICS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152144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 ·  ARE RESOURCES BEING USED WELL?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Efficiency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B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ADMISSIONS BY HOSPITAL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222733815"/>
              </p:ext>
            </p:extLst>
          </p:nvPr>
        </p:nvGraphicFramePr>
        <p:xfrm>
          <a:off x="457200" y="1737360"/>
          <a:ext cx="60350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1605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B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LENGTH OF STAY BY CONDITION (DAYS)</a:t>
            </a:r>
            <a:endParaRPr lang="en-US" sz="1050" dirty="0"/>
          </a:p>
        </p:txBody>
      </p:sp>
      <p:graphicFrame>
        <p:nvGraphicFramePr>
          <p:cNvPr id="7" name="Chart 1"/>
          <p:cNvGraphicFramePr/>
          <p:nvPr>
            <p:extLst>
              <p:ext uri="{D42A27DB-BD31-4B8C-83A1-F6EECF244321}">
                <p14:modId xmlns:p14="http://schemas.microsoft.com/office/powerpoint/2010/main" val="2349539646"/>
              </p:ext>
            </p:extLst>
          </p:nvPr>
        </p:nvGraphicFramePr>
        <p:xfrm>
          <a:off x="457200" y="4434840"/>
          <a:ext cx="603504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6949440" y="14630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B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OF PATIENT ADMISSIONS</a:t>
            </a:r>
            <a:endParaRPr lang="en-US" sz="1050" dirty="0"/>
          </a:p>
        </p:txBody>
      </p:sp>
      <p:graphicFrame>
        <p:nvGraphicFramePr>
          <p:cNvPr id="9" name="Chart 2"/>
          <p:cNvGraphicFramePr/>
          <p:nvPr>
            <p:extLst>
              <p:ext uri="{D42A27DB-BD31-4B8C-83A1-F6EECF244321}">
                <p14:modId xmlns:p14="http://schemas.microsoft.com/office/powerpoint/2010/main" val="3468634379"/>
              </p:ext>
            </p:extLst>
          </p:nvPr>
        </p:nvGraphicFramePr>
        <p:xfrm>
          <a:off x="6949438" y="1737360"/>
          <a:ext cx="4754881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Shape 5"/>
          <p:cNvSpPr/>
          <p:nvPr/>
        </p:nvSpPr>
        <p:spPr>
          <a:xfrm>
            <a:off x="6858000" y="4160520"/>
            <a:ext cx="4846320" cy="2286000"/>
          </a:xfrm>
          <a:prstGeom prst="rect">
            <a:avLst/>
          </a:prstGeom>
          <a:solidFill>
            <a:srgbClr val="F5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7086600" y="4297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2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7086600" y="4572000"/>
            <a:ext cx="4434840" cy="10408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LLC Smith admitted the highest number of patients .</a:t>
            </a:r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disease cases (Cancer, hypertension) show consistently high bed occupancy</a:t>
            </a:r>
            <a:endParaRPr lang="en-US" sz="10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experienced the highest number of admitted patients.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57200" y="65653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 STATE MINISTRY OF HEALTH  |  HEALTHCARE ADMISSION ANALYTICS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1152144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 ·  WHERE DOES THE MONEY GO?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880360" cy="868680"/>
          </a:xfrm>
          <a:prstGeom prst="rect">
            <a:avLst/>
          </a:prstGeom>
          <a:solidFill>
            <a:srgbClr val="0B4A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904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FB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COST PER DAY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$3.39K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0" y="1417320"/>
            <a:ext cx="2880360" cy="868680"/>
          </a:xfrm>
          <a:prstGeom prst="rect">
            <a:avLst/>
          </a:prstGeom>
          <a:solidFill>
            <a:srgbClr val="0B4A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0" y="14904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FB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BILLING / PATIENT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0" y="17373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$25.54K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B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BILLING BY DEPARTMENT ($M)</a:t>
            </a:r>
            <a:endParaRPr lang="en-US" sz="1050" dirty="0"/>
          </a:p>
        </p:txBody>
      </p:sp>
      <p:graphicFrame>
        <p:nvGraphicFramePr>
          <p:cNvPr id="11" name="Chart 0"/>
          <p:cNvGraphicFramePr/>
          <p:nvPr>
            <p:extLst>
              <p:ext uri="{D42A27DB-BD31-4B8C-83A1-F6EECF244321}">
                <p14:modId xmlns:p14="http://schemas.microsoft.com/office/powerpoint/2010/main" val="824112038"/>
              </p:ext>
            </p:extLst>
          </p:nvPr>
        </p:nvGraphicFramePr>
        <p:xfrm>
          <a:off x="457200" y="2788920"/>
          <a:ext cx="62179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6858000" y="2514600"/>
            <a:ext cx="4846320" cy="3840480"/>
          </a:xfrm>
          <a:prstGeom prst="rect">
            <a:avLst/>
          </a:prstGeom>
          <a:solidFill>
            <a:srgbClr val="F5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086600" y="2651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2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086600" y="2926080"/>
            <a:ext cx="4434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Endocrinology and Nutrition &amp; Dietetics generated the highest total billing, driven by chronic disease volume.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Smith attended to the highest number of patients in the state. 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is concentrated in a handful of departments rather than spread evenly.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insurance provider, Cigna, covered the largest share of patients, creating reimbursement concentration risk.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5653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 STATE MINISTRY OF HEALTH  |  HEALTHCARE ADMISSION ANALYTICS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52144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4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B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Answering the Ministry Directly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841248"/>
          </a:xfrm>
          <a:prstGeom prst="rect">
            <a:avLst/>
          </a:prstGeom>
          <a:solidFill>
            <a:srgbClr val="0E56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929384"/>
            <a:ext cx="457200" cy="457200"/>
          </a:xfrm>
          <a:prstGeom prst="ellipse">
            <a:avLst/>
          </a:prstGeom>
          <a:solidFill>
            <a:srgbClr val="E27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929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37360"/>
            <a:ext cx="9966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admissions contributed significantly to longer hospital stays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1064240" cy="841248"/>
          </a:xfrm>
          <a:prstGeom prst="rect">
            <a:avLst/>
          </a:prstGeom>
          <a:solidFill>
            <a:srgbClr val="0E5661"/>
          </a:solidFill>
          <a:ln/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9" name="Shape 7"/>
          <p:cNvSpPr/>
          <p:nvPr/>
        </p:nvSpPr>
        <p:spPr>
          <a:xfrm>
            <a:off x="777240" y="2889504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889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697480"/>
            <a:ext cx="9966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adults represented the highest proportion of high-risk patients and highest in Age group.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64240" cy="841248"/>
          </a:xfrm>
          <a:prstGeom prst="rect">
            <a:avLst/>
          </a:prstGeom>
          <a:solidFill>
            <a:srgbClr val="0E56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7240" y="3849624"/>
            <a:ext cx="457200" cy="457200"/>
          </a:xfrm>
          <a:prstGeom prst="ellipse">
            <a:avLst/>
          </a:prstGeom>
          <a:solidFill>
            <a:srgbClr val="5FB3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849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657600"/>
            <a:ext cx="9966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departments accounted for most healthcare expenditure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11064240" cy="841248"/>
          </a:xfrm>
          <a:prstGeom prst="rect">
            <a:avLst/>
          </a:prstGeom>
          <a:solidFill>
            <a:srgbClr val="0E56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4809744"/>
            <a:ext cx="457200" cy="457200"/>
          </a:xfrm>
          <a:prstGeom prst="ellipse">
            <a:avLst/>
          </a:prstGeom>
          <a:solidFill>
            <a:srgbClr val="3E9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4617720"/>
            <a:ext cx="9966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costs varied considerably across medical conditions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577840"/>
            <a:ext cx="11064240" cy="841248"/>
          </a:xfrm>
          <a:prstGeom prst="rect">
            <a:avLst/>
          </a:prstGeom>
          <a:solidFill>
            <a:srgbClr val="0E56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7240" y="5769864"/>
            <a:ext cx="457200" cy="457200"/>
          </a:xfrm>
          <a:prstGeom prst="ellipse">
            <a:avLst/>
          </a:prstGeom>
          <a:solidFill>
            <a:srgbClr val="E27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5769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5577840"/>
            <a:ext cx="9966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resources were concentrated in a handful of high-demand departments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7200" y="65653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 STATE MINISTRY OF HEALTH  |  HEALTHCARE ADMISSION ANALYTICS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52144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 ·  WHAT SHOULD THE MINISTRY DO NEXT?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502920"/>
          </a:xfrm>
          <a:prstGeom prst="rect">
            <a:avLst/>
          </a:prstGeom>
          <a:solidFill>
            <a:srgbClr val="1379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657600" cy="3931920"/>
          </a:xfrm>
          <a:prstGeom prst="rect">
            <a:avLst/>
          </a:prstGeom>
          <a:solidFill>
            <a:srgbClr val="F5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staffing during peak admission periods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departments with consistently long patient stays and provide specialist support.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performance-monitoring dashboards across facilities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657600" cy="502920"/>
          </a:xfrm>
          <a:prstGeom prst="rect">
            <a:avLst/>
          </a:prstGeom>
          <a:solidFill>
            <a:srgbClr val="3E9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26280" y="15544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CARE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103120"/>
            <a:ext cx="3657600" cy="3931920"/>
          </a:xfrm>
          <a:prstGeom prst="rect">
            <a:avLst/>
          </a:prstGeom>
          <a:solidFill>
            <a:srgbClr val="F5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233172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preventive programs for high-risk age groups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chronic disease management initiatives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earlier diagnosis to reduce prolonged admissions.</a:t>
            </a:r>
          </a:p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for an increase in blood supply of blood group A-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657600" cy="50292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21040" y="15544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2103120"/>
            <a:ext cx="3657600" cy="3931920"/>
          </a:xfrm>
          <a:prstGeom prst="rect">
            <a:avLst/>
          </a:prstGeom>
          <a:solidFill>
            <a:srgbClr val="F5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66760" y="233172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high-cost departments and investigate cost drivers.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reimbursements with other insurance providers.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data-driven budgeting for resource allocation.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653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 STATE MINISTRY OF HEALTH  |  HEALTHCARE ADMISSION ANALYTICS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52144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4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27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B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STATEMENT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98755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project demonstrates how healthcare analytics can support evidence-based decision-making — enabling the NH State Ministry of Health to improve patient outcomes, optimize operational efficiency, and strengthen financial planning across healthcare facilities.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5852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Team — Group One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144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B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 State Ministry of Health  ·  Hospital Admissions Analytics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1028</Words>
  <Application>Microsoft Office PowerPoint</Application>
  <PresentationFormat>Widescreen</PresentationFormat>
  <Paragraphs>172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Adura Adisa</cp:lastModifiedBy>
  <cp:revision>7</cp:revision>
  <dcterms:created xsi:type="dcterms:W3CDTF">2026-08-04T06:59:03Z</dcterms:created>
  <dcterms:modified xsi:type="dcterms:W3CDTF">2026-08-07T17:18:21Z</dcterms:modified>
</cp:coreProperties>
</file>